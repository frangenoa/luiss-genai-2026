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6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61755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F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3" name="Shape 1"/>
          <p:cNvSpPr/>
          <p:nvPr/>
        </p:nvSpPr>
        <p:spPr>
          <a:xfrm>
            <a:off x="6812280" y="0"/>
            <a:ext cx="5376672" cy="685800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4" name="Shape 2"/>
          <p:cNvSpPr/>
          <p:nvPr/>
        </p:nvSpPr>
        <p:spPr>
          <a:xfrm>
            <a:off x="7269480" y="548640"/>
            <a:ext cx="4462272" cy="2926080"/>
          </a:xfrm>
          <a:prstGeom prst="rect">
            <a:avLst/>
          </a:prstGeom>
          <a:solidFill>
            <a:srgbClr val="141F33"/>
          </a:solidFill>
          <a:ln w="127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/>
          <p:nvPr/>
        </p:nvSpPr>
        <p:spPr>
          <a:xfrm>
            <a:off x="7543800" y="548640"/>
            <a:ext cx="391363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your positioning visual can also open the deck 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74980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8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[n]  ·  EXPORT TASK FORCE  ·  [MARKET]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58368" y="1243584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[Market].</a:t>
            </a:r>
            <a:endParaRPr lang="en-US" sz="6200" dirty="0"/>
          </a:p>
        </p:txBody>
      </p:sp>
      <p:sp>
        <p:nvSpPr>
          <p:cNvPr id="8" name="Text 6"/>
          <p:cNvSpPr/>
          <p:nvPr/>
        </p:nvSpPr>
        <p:spPr>
          <a:xfrm>
            <a:off x="658368" y="2432304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200"/>
              </a:lnSpc>
              <a:buNone/>
            </a:pPr>
            <a:r>
              <a:rPr lang="en-US" sz="22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[One line that frames the decision.</a:t>
            </a:r>
            <a:endParaRPr lang="en-US" sz="2200" dirty="0"/>
          </a:p>
          <a:p>
            <a:pPr marL="0" indent="0">
              <a:lnSpc>
                <a:spcPts val="3200"/>
              </a:lnSpc>
              <a:buNone/>
            </a:pPr>
            <a:r>
              <a:rPr lang="en-US" sz="22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Say the idea, not the topic.]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58368" y="3621024"/>
            <a:ext cx="2286000" cy="27432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658368" y="3877056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recommend entering [market] with the [wine] through [channel], funded by [wine] in [channel].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" y="513892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[00,000]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58368" y="5614416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BOTTLES YEAR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2888" y="513892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[+00%]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2532888" y="5614416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YEAR-1 ROI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07408" y="513892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[00,000]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407408" y="5614416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58368" y="61630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· THE RECOMMENDATION — the whole answer, up front. Market, wine, channel, three numbers.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1F33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685800" y="155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14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02336"/>
            <a:ext cx="10881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C24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obvious plan, and why we rejected it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58368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A8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[State the tempting option in one line, then let the numbers kill it.]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" y="1737360"/>
            <a:ext cx="3401568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3401568" cy="73152"/>
          </a:xfrm>
          <a:prstGeom prst="rect">
            <a:avLst/>
          </a:prstGeom>
          <a:solidFill>
            <a:srgbClr val="A8323C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8" name="Text 6"/>
          <p:cNvSpPr/>
          <p:nvPr/>
        </p:nvSpPr>
        <p:spPr>
          <a:xfrm>
            <a:off x="896112" y="1956816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— [wine] only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96112" y="2322576"/>
            <a:ext cx="294436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/ BOTTLE  €[0.00]</a:t>
            </a: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 [00,000] btl</a:t>
            </a: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25,000 TARGET  [±€00,000]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0" y="1737360"/>
            <a:ext cx="3401568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Shape 9"/>
          <p:cNvSpPr/>
          <p:nvPr/>
        </p:nvSpPr>
        <p:spPr>
          <a:xfrm>
            <a:off x="4297680" y="1737360"/>
            <a:ext cx="3401568" cy="73152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2" name="Text 10"/>
          <p:cNvSpPr/>
          <p:nvPr/>
        </p:nvSpPr>
        <p:spPr>
          <a:xfrm>
            <a:off x="4535424" y="1956816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— [wine] only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35424" y="2322576"/>
            <a:ext cx="294436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/ BOTTLE  €[0.00]</a:t>
            </a: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 [00,000] btl</a:t>
            </a: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25,000 TARGET  [±€00,000]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936992" y="1737360"/>
            <a:ext cx="3401568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Shape 13"/>
          <p:cNvSpPr/>
          <p:nvPr/>
        </p:nvSpPr>
        <p:spPr>
          <a:xfrm>
            <a:off x="7936992" y="1737360"/>
            <a:ext cx="3401568" cy="73152"/>
          </a:xfrm>
          <a:prstGeom prst="rect">
            <a:avLst/>
          </a:prstGeom>
          <a:solidFill>
            <a:srgbClr val="8A97AD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6" name="Text 14"/>
          <p:cNvSpPr/>
          <p:nvPr/>
        </p:nvSpPr>
        <p:spPr>
          <a:xfrm>
            <a:off x="8174736" y="1956816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— [wine] only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174736" y="2322576"/>
            <a:ext cx="294436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/ BOTTLE  €[0.00]</a:t>
            </a: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 [00,000] btl</a:t>
            </a: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 [supply? demand?]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8368" y="4718304"/>
            <a:ext cx="10881360" cy="731520"/>
          </a:xfrm>
          <a:prstGeom prst="rect">
            <a:avLst/>
          </a:prstGeom>
          <a:solidFill>
            <a:srgbClr val="141F33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9" name="Text 17"/>
          <p:cNvSpPr/>
          <p:nvPr/>
        </p:nvSpPr>
        <p:spPr>
          <a:xfrm>
            <a:off x="932688" y="4718304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[So the real question in [market] is not X. It is Y.]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58368" y="5888736"/>
            <a:ext cx="10881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1" name="Text 19"/>
          <p:cNvSpPr/>
          <p:nvPr/>
        </p:nvSpPr>
        <p:spPr>
          <a:xfrm>
            <a:off x="896112" y="58887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SLIDE HAS TO DO   </a:t>
            </a: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 credibility. Show you tested the easy answer and can prove it fails.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1F33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685800" y="155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14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&amp; MARGINS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02336"/>
            <a:ext cx="10881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C24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[market] pays for a bottle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58368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[Import duty: 00% · excise: €0.00 per bottle · consumer tax: 00% — from Data Pack 3.3]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" y="1700784"/>
            <a:ext cx="6309360" cy="384048"/>
          </a:xfrm>
          <a:prstGeom prst="rect">
            <a:avLst/>
          </a:prstGeom>
          <a:solidFill>
            <a:srgbClr val="141F33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/>
          <p:nvPr/>
        </p:nvSpPr>
        <p:spPr>
          <a:xfrm>
            <a:off x="786384" y="170078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926080" y="1700784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8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Annata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059936" y="1700784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8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Riserva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193792" y="1700784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8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 Sel.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58368" y="2084832"/>
            <a:ext cx="6309360" cy="429768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2" name="Text 10"/>
          <p:cNvSpPr/>
          <p:nvPr/>
        </p:nvSpPr>
        <p:spPr>
          <a:xfrm>
            <a:off x="786384" y="2084832"/>
            <a:ext cx="2011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Ex-cellar (us)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926080" y="2084832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59936" y="2084832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93792" y="2084832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8368" y="2514600"/>
            <a:ext cx="6309360" cy="42976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7" name="Text 15"/>
          <p:cNvSpPr/>
          <p:nvPr/>
        </p:nvSpPr>
        <p:spPr>
          <a:xfrm>
            <a:off x="786384" y="2514600"/>
            <a:ext cx="2011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freight &amp; insurance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926080" y="2514600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059936" y="2514600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193792" y="2514600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8368" y="2944368"/>
            <a:ext cx="6309360" cy="429768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22" name="Text 20"/>
          <p:cNvSpPr/>
          <p:nvPr/>
        </p:nvSpPr>
        <p:spPr>
          <a:xfrm>
            <a:off x="786384" y="2944368"/>
            <a:ext cx="2011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duty + excise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926080" y="2944368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059936" y="2944368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193792" y="2944368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58368" y="3374136"/>
            <a:ext cx="6309360" cy="42976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27" name="Text 25"/>
          <p:cNvSpPr/>
          <p:nvPr/>
        </p:nvSpPr>
        <p:spPr>
          <a:xfrm>
            <a:off x="786384" y="3374136"/>
            <a:ext cx="2011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Importer +30%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926080" y="3374136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059936" y="3374136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193792" y="3374136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8368" y="3803904"/>
            <a:ext cx="6309360" cy="429768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32" name="Text 30"/>
          <p:cNvSpPr/>
          <p:nvPr/>
        </p:nvSpPr>
        <p:spPr>
          <a:xfrm>
            <a:off x="786384" y="3803904"/>
            <a:ext cx="2011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Distributor +25%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926080" y="3803904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059936" y="3803904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93792" y="3803904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58368" y="4233672"/>
            <a:ext cx="6309360" cy="42976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37" name="Text 35"/>
          <p:cNvSpPr/>
          <p:nvPr/>
        </p:nvSpPr>
        <p:spPr>
          <a:xfrm>
            <a:off x="786384" y="4233672"/>
            <a:ext cx="2011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+40%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926080" y="4233672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059936" y="4233672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193792" y="4233672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58368" y="4663440"/>
            <a:ext cx="6309360" cy="429768"/>
          </a:xfrm>
          <a:prstGeom prst="rect">
            <a:avLst/>
          </a:prstGeom>
          <a:solidFill>
            <a:srgbClr val="FFF8E2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42" name="Text 40"/>
          <p:cNvSpPr/>
          <p:nvPr/>
        </p:nvSpPr>
        <p:spPr>
          <a:xfrm>
            <a:off x="786384" y="4663440"/>
            <a:ext cx="2011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consumer tax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2926080" y="4663440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059936" y="4663440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193792" y="4663440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58368" y="5093208"/>
            <a:ext cx="6309360" cy="429768"/>
          </a:xfrm>
          <a:prstGeom prst="rect">
            <a:avLst/>
          </a:prstGeom>
          <a:solidFill>
            <a:srgbClr val="141F33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47" name="Text 45"/>
          <p:cNvSpPr/>
          <p:nvPr/>
        </p:nvSpPr>
        <p:spPr>
          <a:xfrm>
            <a:off x="786384" y="5093208"/>
            <a:ext cx="2194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1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PRICE, LOCAL CURRENCY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2926080" y="5093208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[000]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059936" y="5093208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[000]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193792" y="5093208"/>
            <a:ext cx="11155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[000]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7424928" y="1700784"/>
            <a:ext cx="4114800" cy="3822192"/>
          </a:xfrm>
          <a:prstGeom prst="rect">
            <a:avLst/>
          </a:prstGeom>
          <a:solidFill>
            <a:srgbClr val="141F33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52" name="Text 50"/>
          <p:cNvSpPr/>
          <p:nvPr/>
        </p:nvSpPr>
        <p:spPr>
          <a:xfrm>
            <a:off x="7699248" y="1975104"/>
            <a:ext cx="3566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[THE NUMBER]</a:t>
            </a:r>
            <a:endParaRPr lang="en-US" sz="3800" dirty="0"/>
          </a:p>
        </p:txBody>
      </p:sp>
      <p:sp>
        <p:nvSpPr>
          <p:cNvPr id="53" name="Text 51"/>
          <p:cNvSpPr/>
          <p:nvPr/>
        </p:nvSpPr>
        <p:spPr>
          <a:xfrm>
            <a:off x="7699248" y="2871216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[Which single price on this ladder decided your strategy, and why does it matter in this market?</a:t>
            </a:r>
            <a:endParaRPr lang="en-US" sz="1300" dirty="0"/>
          </a:p>
          <a:p>
            <a:pPr marL="0" indent="0">
              <a:lnSpc>
                <a:spcPts val="1900"/>
              </a:lnSpc>
              <a:buNone/>
            </a:pPr>
            <a:endParaRPr lang="en-US" sz="13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number. One reason. Nothing else on this panel.]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658368" y="5888736"/>
            <a:ext cx="10881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5" name="Text 53"/>
          <p:cNvSpPr/>
          <p:nvPr/>
        </p:nvSpPr>
        <p:spPr>
          <a:xfrm>
            <a:off x="896112" y="58887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SLIDE HAS TO DO   </a:t>
            </a: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economics are built, not asserted. Every row traces to Data Pack 3.1–3.5.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F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685800" y="155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YEAR-1 PLAN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02336"/>
            <a:ext cx="10881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[Volume] bottles, [n] wines, [n] channels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58368" y="1572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2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035808" y="15727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2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498848" y="15727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2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47888" y="157276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2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/ btl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19488" y="1572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2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58368" y="1938528"/>
            <a:ext cx="10881360" cy="137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1" name="Text 9"/>
          <p:cNvSpPr/>
          <p:nvPr/>
        </p:nvSpPr>
        <p:spPr>
          <a:xfrm>
            <a:off x="658368" y="20848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[Wine]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035808" y="208483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[00,000]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498848" y="208483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[channel]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47888" y="208483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19488" y="20848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€[00,000]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" y="2651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[Wine]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035808" y="2651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[0,000]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98848" y="26517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[channel]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47888" y="26517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619488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€[00,000]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8368" y="32186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[Wine]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035808" y="321868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[0,000]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498848" y="321868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[channel, capped]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47888" y="32186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619488" y="32186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€[00,000]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58368" y="3730752"/>
            <a:ext cx="10881360" cy="54864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27" name="Text 25"/>
          <p:cNvSpPr/>
          <p:nvPr/>
        </p:nvSpPr>
        <p:spPr>
          <a:xfrm>
            <a:off x="804672" y="37856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035808" y="378561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[25,000]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498848" y="378561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247888" y="378561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€[0.00] blended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619488" y="37856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€[000,000]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58368" y="4754880"/>
            <a:ext cx="2560320" cy="100584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33" name="Text 31"/>
          <p:cNvSpPr/>
          <p:nvPr/>
        </p:nvSpPr>
        <p:spPr>
          <a:xfrm>
            <a:off x="859536" y="48828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2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YEAR-1 REVENUE (EX-CELLAR)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859536" y="51389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€[000,000]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3401568" y="4754880"/>
            <a:ext cx="2560320" cy="100584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36" name="Text 34"/>
          <p:cNvSpPr/>
          <p:nvPr/>
        </p:nvSpPr>
        <p:spPr>
          <a:xfrm>
            <a:off x="3602736" y="48828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2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MARKET-ENTRY INVESTMENT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3602736" y="51389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€120,000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6144768" y="4754880"/>
            <a:ext cx="2560320" cy="100584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39" name="Text 37"/>
          <p:cNvSpPr/>
          <p:nvPr/>
        </p:nvSpPr>
        <p:spPr>
          <a:xfrm>
            <a:off x="6345936" y="48828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2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YEAR 1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345936" y="51389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[+€00,000]</a:t>
            </a:r>
            <a:endParaRPr lang="en-US" sz="2200" dirty="0"/>
          </a:p>
        </p:txBody>
      </p:sp>
      <p:sp>
        <p:nvSpPr>
          <p:cNvPr id="41" name="Shape 39"/>
          <p:cNvSpPr/>
          <p:nvPr/>
        </p:nvSpPr>
        <p:spPr>
          <a:xfrm>
            <a:off x="8887968" y="4754880"/>
            <a:ext cx="2560320" cy="100584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42" name="Text 40"/>
          <p:cNvSpPr/>
          <p:nvPr/>
        </p:nvSpPr>
        <p:spPr>
          <a:xfrm>
            <a:off x="9089136" y="48828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2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YEAR-1 ROI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9089136" y="51389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[+00%]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658368" y="598017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[Why each wine is in the plan — especially the one that dilutes your average. One line each.]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1F33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685800" y="155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14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02336"/>
            <a:ext cx="10881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C24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Downside, base, upside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58368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[Name the two variables you actually tested, and the one you deliberately did not.]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" y="1737360"/>
            <a:ext cx="340156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3401568" cy="73152"/>
          </a:xfrm>
          <a:prstGeom prst="rect">
            <a:avLst/>
          </a:prstGeom>
          <a:solidFill>
            <a:srgbClr val="A8323C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8" name="Text 6"/>
          <p:cNvSpPr/>
          <p:nvPr/>
        </p:nvSpPr>
        <p:spPr>
          <a:xfrm>
            <a:off x="896112" y="1956816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 ·  [what goes wrong]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96112" y="2322576"/>
            <a:ext cx="294436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 [00,000]</a:t>
            </a: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 €[00,000]</a:t>
            </a: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 [-€00,000]</a:t>
            </a: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 [-00%]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0" y="1737360"/>
            <a:ext cx="340156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Shape 9"/>
          <p:cNvSpPr/>
          <p:nvPr/>
        </p:nvSpPr>
        <p:spPr>
          <a:xfrm>
            <a:off x="4297680" y="1737360"/>
            <a:ext cx="3401568" cy="73152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2" name="Text 10"/>
          <p:cNvSpPr/>
          <p:nvPr/>
        </p:nvSpPr>
        <p:spPr>
          <a:xfrm>
            <a:off x="4535424" y="1956816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 ·  [the plan lands]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35424" y="2322576"/>
            <a:ext cx="294436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 [25,000]</a:t>
            </a: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 €[000,000]</a:t>
            </a: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 [+€00,000]</a:t>
            </a: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 [+00%]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936992" y="1737360"/>
            <a:ext cx="340156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Shape 13"/>
          <p:cNvSpPr/>
          <p:nvPr/>
        </p:nvSpPr>
        <p:spPr>
          <a:xfrm>
            <a:off x="7936992" y="1737360"/>
            <a:ext cx="3401568" cy="73152"/>
          </a:xfrm>
          <a:prstGeom prst="rect">
            <a:avLst/>
          </a:prstGeom>
          <a:solidFill>
            <a:srgbClr val="4C7A55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6" name="Text 14"/>
          <p:cNvSpPr/>
          <p:nvPr/>
        </p:nvSpPr>
        <p:spPr>
          <a:xfrm>
            <a:off x="8174736" y="1956816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  ·  [what has to go right]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174736" y="2322576"/>
            <a:ext cx="294436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 [00,000]</a:t>
            </a: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 €[000,000]</a:t>
            </a: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 [+€00,000]</a:t>
            </a: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 [+00%]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8368" y="4956048"/>
            <a:ext cx="5340096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Text 17"/>
          <p:cNvSpPr/>
          <p:nvPr/>
        </p:nvSpPr>
        <p:spPr>
          <a:xfrm>
            <a:off x="896112" y="4956048"/>
            <a:ext cx="4846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20" dirty="0">
                <a:solidFill>
                  <a:srgbClr val="A8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BREAKS IN THE DOWNSIDE
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[The single dependency. Say it out loud.]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217920" y="4956048"/>
            <a:ext cx="5321808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1" name="Text 19"/>
          <p:cNvSpPr/>
          <p:nvPr/>
        </p:nvSpPr>
        <p:spPr>
          <a:xfrm>
            <a:off x="6455664" y="4956048"/>
            <a:ext cx="4846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20" dirty="0">
                <a:solidFill>
                  <a:srgbClr val="14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LIMITS THE UPSIDE
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[Supply ceiling or demand ceiling? They are not the same argument.]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58368" y="5888736"/>
            <a:ext cx="10881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3" name="Text 21"/>
          <p:cNvSpPr/>
          <p:nvPr/>
        </p:nvSpPr>
        <p:spPr>
          <a:xfrm>
            <a:off x="896112" y="58887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SLIDE HAS TO DO   </a:t>
            </a: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plan has been attacked before Elena attacks it.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1F33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685800" y="155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14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CONTROL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02336"/>
            <a:ext cx="10881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C24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Elena will know it is working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58368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[Minimum 3 financial and 3 non-financial. Each one needs a target, a rhythm, and an action.]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" y="1700784"/>
            <a:ext cx="10881360" cy="384048"/>
          </a:xfrm>
          <a:prstGeom prst="rect">
            <a:avLst/>
          </a:prstGeom>
          <a:solidFill>
            <a:srgbClr val="141F33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/>
          <p:nvPr/>
        </p:nvSpPr>
        <p:spPr>
          <a:xfrm>
            <a:off x="804672" y="1700784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1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353312" y="170078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1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68112" y="170078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1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205472" y="170078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1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577072" y="1700784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1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misses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58368" y="2084832"/>
            <a:ext cx="10881360" cy="566928"/>
          </a:xfrm>
          <a:prstGeom prst="rect">
            <a:avLst/>
          </a:prstGeom>
          <a:solidFill>
            <a:srgbClr val="F2EFE6"/>
          </a:solidFill>
          <a:ln w="12700">
            <a:solidFill>
              <a:srgbClr val="E2DED3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1"/>
          <p:cNvSpPr/>
          <p:nvPr/>
        </p:nvSpPr>
        <p:spPr>
          <a:xfrm>
            <a:off x="804672" y="2084832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353312" y="208483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[Financial indicator]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68112" y="208483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[≥ €0.00]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205472" y="2084832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[Quarterly]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77072" y="208483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[Action]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58368" y="2651760"/>
            <a:ext cx="10881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Text 17"/>
          <p:cNvSpPr/>
          <p:nvPr/>
        </p:nvSpPr>
        <p:spPr>
          <a:xfrm>
            <a:off x="804672" y="26517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353312" y="2651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[Financial indicator]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68112" y="265176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[≥ €000k]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205472" y="265176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[Monthly]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77072" y="265176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[Action]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8368" y="3218688"/>
            <a:ext cx="10881360" cy="566928"/>
          </a:xfrm>
          <a:prstGeom prst="rect">
            <a:avLst/>
          </a:prstGeom>
          <a:solidFill>
            <a:srgbClr val="F2EFE6"/>
          </a:solidFill>
          <a:ln w="12700">
            <a:solidFill>
              <a:srgbClr val="E2DED3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5" name="Text 23"/>
          <p:cNvSpPr/>
          <p:nvPr/>
        </p:nvSpPr>
        <p:spPr>
          <a:xfrm>
            <a:off x="804672" y="3218688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353312" y="3218688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[Financial indicator]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468112" y="321868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[≥ €0.00]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205472" y="3218688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[Quarterly]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577072" y="321868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[Action]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58368" y="3785616"/>
            <a:ext cx="10881360" cy="566928"/>
          </a:xfrm>
          <a:prstGeom prst="rect">
            <a:avLst/>
          </a:prstGeom>
          <a:solidFill>
            <a:srgbClr val="FFF8E2"/>
          </a:solidFill>
          <a:ln w="12700">
            <a:solidFill>
              <a:srgbClr val="E2DED3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1" name="Text 29"/>
          <p:cNvSpPr/>
          <p:nvPr/>
        </p:nvSpPr>
        <p:spPr>
          <a:xfrm>
            <a:off x="804672" y="3785616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N1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1353312" y="3785616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early-warning indicator — the one you would keep]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468112" y="3785616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[≥ 00%]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205472" y="3785616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[Monthly]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577072" y="3785616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[Action]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58368" y="4352544"/>
            <a:ext cx="10881360" cy="566928"/>
          </a:xfrm>
          <a:prstGeom prst="rect">
            <a:avLst/>
          </a:prstGeom>
          <a:solidFill>
            <a:srgbClr val="F2EFE6"/>
          </a:solidFill>
          <a:ln w="12700">
            <a:solidFill>
              <a:srgbClr val="E2DED3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7" name="Text 35"/>
          <p:cNvSpPr/>
          <p:nvPr/>
        </p:nvSpPr>
        <p:spPr>
          <a:xfrm>
            <a:off x="804672" y="4352544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N2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1353312" y="4352544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[Non-financial indicator]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468112" y="4352544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 by M0]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7205472" y="4352544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[Monthly]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8577072" y="435254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[Action]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58368" y="4919472"/>
            <a:ext cx="10881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3" name="Text 41"/>
          <p:cNvSpPr/>
          <p:nvPr/>
        </p:nvSpPr>
        <p:spPr>
          <a:xfrm>
            <a:off x="804672" y="4919472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N3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1353312" y="491947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[Non-financial indicator]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5468112" y="491947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 by M0]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7205472" y="4919472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[Quarterly]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577072" y="491947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[Action]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658368" y="5888736"/>
            <a:ext cx="10881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9" name="Text 47"/>
          <p:cNvSpPr/>
          <p:nvPr/>
        </p:nvSpPr>
        <p:spPr>
          <a:xfrm>
            <a:off x="896112" y="58887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SLIDE HAS TO DO   </a:t>
            </a: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Elena's third question: how she knows inside 12 months, before the financials confirm it.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F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685800" y="155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02336"/>
            <a:ext cx="10881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visual we would put in front of [market]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6035040" cy="4114800"/>
          </a:xfrm>
          <a:prstGeom prst="rect">
            <a:avLst/>
          </a:prstGeom>
          <a:solidFill>
            <a:srgbClr val="1B2A44"/>
          </a:solidFill>
          <a:ln w="127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932688" y="1554480"/>
            <a:ext cx="5486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1400" i="1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INSERT YOUR GENERATED IMAGE HERE ]</a:t>
            </a:r>
            <a:endParaRPr lang="en-US" sz="1400" dirty="0"/>
          </a:p>
          <a:p>
            <a:pPr marL="0" indent="0" algn="ctr">
              <a:lnSpc>
                <a:spcPts val="2200"/>
              </a:lnSpc>
              <a:buNone/>
            </a:pPr>
            <a:endParaRPr lang="en-US" sz="1400" dirty="0"/>
          </a:p>
          <a:p>
            <a:pPr marL="0" indent="0" algn="ctr">
              <a:lnSpc>
                <a:spcPts val="2200"/>
              </a:lnSpc>
              <a:buNone/>
            </a:pPr>
            <a:r>
              <a:rPr lang="en-US" sz="1400" i="1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concept · campaign visual · gift pack · tasting-event key visual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040880" y="1554480"/>
            <a:ext cx="4498848" cy="1261872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8" name="Text 6"/>
          <p:cNvSpPr/>
          <p:nvPr/>
        </p:nvSpPr>
        <p:spPr>
          <a:xfrm>
            <a:off x="7278624" y="170078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 HERE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278624" y="199339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[The market-specific reason. Not "it looks premium".]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040880" y="2980944"/>
            <a:ext cx="4498848" cy="1261872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1" name="Text 9"/>
          <p:cNvSpPr/>
          <p:nvPr/>
        </p:nvSpPr>
        <p:spPr>
          <a:xfrm>
            <a:off x="7278624" y="31272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CHANGED FOR THIS MARKET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278624" y="3419856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[Format, language, packaging, occasion, cue.]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040880" y="4407408"/>
            <a:ext cx="4498848" cy="1261872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/>
          <p:nvPr/>
        </p:nvSpPr>
        <p:spPr>
          <a:xfrm>
            <a:off x="7278624" y="45537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REFUSED TO CHANGE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278624" y="48463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[The premium holds. Name what is non-negotiable.]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59436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generated image. Make it work for this market — and enjoy making it.]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1F33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685800" y="155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14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02336"/>
            <a:ext cx="10881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C24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need you to sign off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58368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 sentence Elena can say yes or no to.]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" y="1737360"/>
            <a:ext cx="5340096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5340096" cy="73152"/>
          </a:xfrm>
          <a:prstGeom prst="rect">
            <a:avLst/>
          </a:prstGeom>
          <a:solidFill>
            <a:srgbClr val="141F33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8" name="Text 6"/>
          <p:cNvSpPr/>
          <p:nvPr/>
        </p:nvSpPr>
        <p:spPr>
          <a:xfrm>
            <a:off x="896112" y="1956816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12-MONTH GATES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96112" y="2322576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M1–2  [gate]</a:t>
            </a: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M3–4  [gate]</a:t>
            </a: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M5–6  [the hard deadline, if you have one]</a:t>
            </a: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M7–9  [gate]</a:t>
            </a: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M10–12  [year-1 review against F1–F3, N1–N3]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1737360"/>
            <a:ext cx="532180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Shape 9"/>
          <p:cNvSpPr/>
          <p:nvPr/>
        </p:nvSpPr>
        <p:spPr>
          <a:xfrm>
            <a:off x="6217920" y="1737360"/>
            <a:ext cx="5321808" cy="73152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2" name="Text 10"/>
          <p:cNvSpPr/>
          <p:nvPr/>
        </p:nvSpPr>
        <p:spPr>
          <a:xfrm>
            <a:off x="6455664" y="1956816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ARE ASKING FOR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55664" y="2322576"/>
            <a:ext cx="4864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[€120,000 released against these gates]</a:t>
            </a: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[Volume committed from Marco]</a:t>
            </a: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[Decision needed by: date]</a:t>
            </a: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[Who owns what]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224528"/>
            <a:ext cx="10881360" cy="1371600"/>
          </a:xfrm>
          <a:prstGeom prst="rect">
            <a:avLst/>
          </a:prstGeom>
          <a:solidFill>
            <a:srgbClr val="141F33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5" name="Text 13"/>
          <p:cNvSpPr/>
          <p:nvPr/>
        </p:nvSpPr>
        <p:spPr>
          <a:xfrm>
            <a:off x="932688" y="440740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THING THAT COULD KILL THIS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32688" y="4718304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600"/>
              </a:lnSpc>
              <a:buNone/>
            </a:pPr>
            <a:r>
              <a:rPr lang="en-US" sz="18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 your single point of failure honestly, and what you would do about it. Elena respects this more than confidence.]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58368" y="5815584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we invented: [list them here or on a back-up slide]  ·  [Anything else you want the board to know you know]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7ba5c36-b7cf-4793-bbc2-bd5b3a9f95ca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1174</Words>
  <Application>Microsoft Office PowerPoint</Application>
  <PresentationFormat>Widescreen</PresentationFormat>
  <Paragraphs>205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Tenuta Corte Aurelia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Indicative Submission Deck — market neutral skeleton</dc:title>
  <dc:subject>Structure only. Contains no answers for any market.</dc:subject>
  <dc:creator>Wine Business Program 2026</dc:creator>
  <cp:lastModifiedBy>Francesco Fava</cp:lastModifiedBy>
  <cp:revision>1</cp:revision>
  <dcterms:created xsi:type="dcterms:W3CDTF">2026-09-22T16:09:42Z</dcterms:created>
  <dcterms:modified xsi:type="dcterms:W3CDTF">2026-09-23T14:23:18Z</dcterms:modified>
</cp:coreProperties>
</file>