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17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812280" y="0"/>
            <a:ext cx="5376672" cy="685800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7269480" y="548640"/>
            <a:ext cx="4462272" cy="2926080"/>
          </a:xfrm>
          <a:prstGeom prst="rect">
            <a:avLst/>
          </a:prstGeom>
          <a:solidFill>
            <a:srgbClr val="141F33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7543800" y="548640"/>
            <a:ext cx="39136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positioning visual can also open the deck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7498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8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[n]  ·  EXPORT TASK FORCE  ·  [MARKET]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[Market].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658368" y="2432304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2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[One line that frames the decision.</a:t>
            </a:r>
            <a:endParaRPr lang="en-US" sz="22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2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the idea, not the topic.]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58368" y="3621024"/>
            <a:ext cx="2286000" cy="2743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58368" y="387705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entering [market] with the [wine] through [channel], funded by [wine] in [channel].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5138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[00,000]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" y="5614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BOTTLES YEAR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32888" y="5138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[+00%]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32888" y="5614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07408" y="5138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[00,000]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07408" y="5614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61630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THE RECOMMENDATION — the whole answer, up front. Market, wine, channel, three numbers.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obvious plan, and why we rejected 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the tempting option in one line, then let the numbers kill it.]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34015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401568" cy="73152"/>
          </a:xfrm>
          <a:prstGeom prst="rect">
            <a:avLst/>
          </a:prstGeom>
          <a:solidFill>
            <a:srgbClr val="A8323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96112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[wine] only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322576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/ BOTTLE  €[0.00]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 [00,000] btl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25,000 TARGET  [±€00,000]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4015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401568" cy="7315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35424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[wine] only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35424" y="2322576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/ BOTTLE  €[0.00]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 [00,000] btl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25,000 TARGET  [±€00,000]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36992" y="1737360"/>
            <a:ext cx="340156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7936992" y="1737360"/>
            <a:ext cx="3401568" cy="73152"/>
          </a:xfrm>
          <a:prstGeom prst="rect">
            <a:avLst/>
          </a:prstGeom>
          <a:solidFill>
            <a:srgbClr val="8A97A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8174736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— [wine] only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74736" y="2322576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/ BOTTLE  €[0.00]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 [00,000] btl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 [supply? demand?]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718304"/>
            <a:ext cx="10881360" cy="73152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932688" y="471830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[So the real question in [market] is not X. It is Y.]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" y="5888736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96112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SLIDE HAS TO DO  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credibility. Show you tested the easy answer and can prove it fails.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MARGINS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[market] pays for a bottle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[Import duty: 00% · excise: €0.00 per bottle · consumer tax: 00% — from Data Pack 4.3]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6309360" cy="384048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86384" y="1700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7007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59936" y="17007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Riserva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93792" y="1700784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8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Sel.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084832"/>
            <a:ext cx="6309360" cy="429768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86384" y="208483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Ex-cellar (us)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08483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59936" y="208483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93792" y="208483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2514600"/>
            <a:ext cx="630936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786384" y="251460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freight &amp; insurance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51460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59936" y="251460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93792" y="251460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2944368"/>
            <a:ext cx="6309360" cy="429768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786384" y="2944368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duty + excise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294436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59936" y="294436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3792" y="294436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3374136"/>
            <a:ext cx="630936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86384" y="3374136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+30%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374136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59936" y="3374136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3374136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" y="3803904"/>
            <a:ext cx="6309360" cy="429768"/>
          </a:xfrm>
          <a:prstGeom prst="rect">
            <a:avLst/>
          </a:prstGeom>
          <a:solidFill>
            <a:srgbClr val="F2EFE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786384" y="3803904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+25%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3803904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59936" y="3803904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93792" y="3803904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" y="4233672"/>
            <a:ext cx="630936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786384" y="423367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+40%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23367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59936" y="423367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93792" y="4233672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8368" y="4663440"/>
            <a:ext cx="6309360" cy="429768"/>
          </a:xfrm>
          <a:prstGeom prst="rect">
            <a:avLst/>
          </a:prstGeom>
          <a:solidFill>
            <a:srgbClr val="FFF8E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786384" y="466344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consumer tax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26080" y="466344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59936" y="466344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93792" y="4663440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" y="5093208"/>
            <a:ext cx="6309360" cy="429768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786384" y="509320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PRICE, LOCAL CURRENCY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926080" y="509320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[000]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059936" y="509320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[000]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93792" y="5093208"/>
            <a:ext cx="1115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[000]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424928" y="1700784"/>
            <a:ext cx="4114800" cy="3822192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7699248" y="197510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[THE NUMBER]</a:t>
            </a:r>
            <a:endParaRPr lang="en-US" sz="3800" dirty="0"/>
          </a:p>
        </p:txBody>
      </p:sp>
      <p:sp>
        <p:nvSpPr>
          <p:cNvPr id="53" name="Text 51"/>
          <p:cNvSpPr/>
          <p:nvPr/>
        </p:nvSpPr>
        <p:spPr>
          <a:xfrm>
            <a:off x="7699248" y="2871216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single price on this ladder decided your strategy, and why does it matter in this market?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number. One reason. Nothing else on this panel.]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58368" y="5888736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896112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SLIDE HAS TO DO  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economics are built, not asserted. Every row traces to Data Pack 4.1–4.5.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YEAR-1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[Volume] bottles, [n] wines, [n] channels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35808" y="1572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98848" y="1572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47888" y="15727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/ btl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19488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938528"/>
            <a:ext cx="10881360" cy="137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[Wine]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20848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[00,000]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98848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[channel]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47888" y="2084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19488" y="2084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€[00,000]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[Wine]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35808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[0,000]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98848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[channel]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19488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€[00,000]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32186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[Wine]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35808" y="32186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[0,000]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98848" y="3218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[channel, capped]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47888" y="32186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19488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€[00,000]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" y="3730752"/>
            <a:ext cx="10881360" cy="5486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04672" y="3785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35808" y="37856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[25,000]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98848" y="3785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47888" y="37856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€[0.00] blended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19488" y="37856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€[000,000]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4754880"/>
            <a:ext cx="2560320" cy="10058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859536" y="4882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REVENUE (EX-CELLAR)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9536" y="5138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€[000,000]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401568" y="4754880"/>
            <a:ext cx="2560320" cy="10058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3602736" y="4882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MARKET-ENTRY INVESTMENT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02736" y="5138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€120,000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144768" y="4754880"/>
            <a:ext cx="2560320" cy="10058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6345936" y="4882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YEAR 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45936" y="5138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[+€00,000]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887968" y="4754880"/>
            <a:ext cx="2560320" cy="1005840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9089136" y="4882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089136" y="5138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[+00%]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8368" y="598017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[Why each wine is in the plan — especially the one that dilutes your average. One line each.]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Downside, base, upside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two variables you actually tested, and the one you deliberately did not.]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34015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401568" cy="73152"/>
          </a:xfrm>
          <a:prstGeom prst="rect">
            <a:avLst/>
          </a:prstGeom>
          <a:solidFill>
            <a:srgbClr val="A8323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96112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 ·  [what goes wrong]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322576"/>
            <a:ext cx="29443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[00,000]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 €[00,000]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 [-€00,000]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 [-00%]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4015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401568" cy="7315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35424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[the plan lands]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35424" y="2322576"/>
            <a:ext cx="29443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[25,000]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 €[000,000]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 [+€00,000]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 [+00%]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36992" y="1737360"/>
            <a:ext cx="34015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7936992" y="1737360"/>
            <a:ext cx="3401568" cy="73152"/>
          </a:xfrm>
          <a:prstGeom prst="rect">
            <a:avLst/>
          </a:prstGeom>
          <a:solidFill>
            <a:srgbClr val="4C7A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8174736" y="1956816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 ·  [what has to go right]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74736" y="2322576"/>
            <a:ext cx="29443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[00,000]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 €[000,000]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 [+€00,000]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 [+00%]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956048"/>
            <a:ext cx="5340096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96112" y="495604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A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IN THE DOWNSIDE
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single dependency. Say it out loud.]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4956048"/>
            <a:ext cx="532180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455664" y="495604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LIMITS THE UPSIDE
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[Supply ceiling or demand ceiling? They are not the same argument.]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5888736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896112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SLIDE HAS TO DO  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plan has been attacked before Elena attacks it.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Elena will know it is working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[Minimum 3 financial and 3 non-financial. Each one needs a target, a rhythm, and an action.]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10881360" cy="384048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04672" y="17007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53312" y="17007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68112" y="1700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05472" y="17007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77072" y="17007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1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misses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084832"/>
            <a:ext cx="10881360" cy="566928"/>
          </a:xfrm>
          <a:prstGeom prst="rect">
            <a:avLst/>
          </a:prstGeom>
          <a:solidFill>
            <a:srgbClr val="F2EFE6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04672" y="20848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53312" y="20848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[Financial indicator]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68112" y="20848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[≥ €0.00]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05472" y="208483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[Quarterly]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77072" y="2084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265176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04672" y="2651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53312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[Financial indicator]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68112" y="2651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[≥ €000k]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05472" y="2651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[Monthly]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77072" y="26517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3218688"/>
            <a:ext cx="10881360" cy="566928"/>
          </a:xfrm>
          <a:prstGeom prst="rect">
            <a:avLst/>
          </a:prstGeom>
          <a:solidFill>
            <a:srgbClr val="F2EFE6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804672" y="321868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353312" y="32186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[Financial indicator]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68112" y="3218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[≥ €0.00]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05472" y="3218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[Quarterly]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77072" y="32186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" y="3785616"/>
            <a:ext cx="10881360" cy="566928"/>
          </a:xfrm>
          <a:prstGeom prst="rect">
            <a:avLst/>
          </a:prstGeom>
          <a:solidFill>
            <a:srgbClr val="FFF8E2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804672" y="37856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53312" y="37856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early-warning indicator — the one you would keep]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68112" y="37856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[≥ 00%]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05472" y="37856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[Monthly]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77072" y="37856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" y="4352544"/>
            <a:ext cx="10881360" cy="566928"/>
          </a:xfrm>
          <a:prstGeom prst="rect">
            <a:avLst/>
          </a:prstGeom>
          <a:solidFill>
            <a:srgbClr val="F2EFE6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804672" y="43525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353312" y="43525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[Non-financial indicator]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68112" y="4352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by M0]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05472" y="435254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[Monthly]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577072" y="43525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" y="4919472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804672" y="49194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353312" y="49194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[Non-financial indicator]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68112" y="49194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by M0]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205472" y="49194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[Quarterly]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577072" y="49194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58368" y="5888736"/>
            <a:ext cx="10881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896112" y="58887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SLIDE HAS TO DO   </a:t>
            </a: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Elena's third question: how she knows inside 12 months, before the financials confirm it.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visual we would put in front of [market]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6035040" cy="4114800"/>
          </a:xfrm>
          <a:prstGeom prst="rect">
            <a:avLst/>
          </a:prstGeom>
          <a:solidFill>
            <a:srgbClr val="1B2A44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32688" y="15544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GENERATED IMAGE HERE ]</a:t>
            </a:r>
            <a:endParaRPr lang="en-US" sz="1400" dirty="0"/>
          </a:p>
          <a:p>
            <a:pPr marL="0" indent="0" algn="ctr">
              <a:lnSpc>
                <a:spcPts val="2200"/>
              </a:lnSpc>
              <a:buNone/>
            </a:pPr>
            <a:endParaRPr lang="en-US" sz="14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concept · campaign visual · gift pack · tasting-event key visual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554480"/>
            <a:ext cx="4498848" cy="1261872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278624" y="1700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HERE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78624" y="19933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market-specific reason. Not "it looks premium".]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2980944"/>
            <a:ext cx="4498848" cy="1261872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7278624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 FOR THIS MARKET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78624" y="341985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[Format, language, packaging, occasion, cue.]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4407408"/>
            <a:ext cx="4498848" cy="1261872"/>
          </a:xfrm>
          <a:prstGeom prst="rect">
            <a:avLst/>
          </a:prstGeom>
          <a:solidFill>
            <a:srgbClr val="1B2A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278624" y="4553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REFUSED TO CHANGE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78624" y="4846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premium holds. Name what is non-negotiable.]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generated image. Make it work for this market — and enjoy making it.]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85800" y="1554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60" dirty="0">
                <a:solidFill>
                  <a:srgbClr val="1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402336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4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you to sign off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sentence Elena can say yes or no to.]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53400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5340096" cy="73152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96112" y="195681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12-MONTH GATES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2322576"/>
            <a:ext cx="4882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M1–2  [gate]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M3–4  [gate]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M5–6  [the hard deadline, if you have one]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M7–9  [gate]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M10–12  [year-1 review against F1–F3, N1–N3]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2180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21808" cy="7315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55664" y="195681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55664" y="2322576"/>
            <a:ext cx="4864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[€120,000 released against these gates]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[Volume committed from Marco]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needed by: date]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owns what]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224528"/>
            <a:ext cx="10881360" cy="1371600"/>
          </a:xfrm>
          <a:prstGeom prst="rect">
            <a:avLst/>
          </a:prstGeom>
          <a:solidFill>
            <a:srgbClr val="141F33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932688" y="440740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COULD KILL THIS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471830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 your single point of failure honestly, and what you would do about it. Elena respects this more than confidence.]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" y="58155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8A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we invented: [list them here or on a back-up slide]  ·  [Anything else you want the board to know you know]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Widescreen</PresentationFormat>
  <Paragraphs>205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Tenuta Corte Aurelia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Indicative Submission Deck — market neutral skeleton</dc:title>
  <dc:subject>Structure only. Contains no answers for any market.</dc:subject>
  <dc:creator>Wine Business Program 2026</dc:creator>
  <cp:lastModifiedBy>Francesco Fava</cp:lastModifiedBy>
  <cp:revision>1</cp:revision>
  <dcterms:created xsi:type="dcterms:W3CDTF">2026-09-22T16:09:42Z</dcterms:created>
  <dcterms:modified xsi:type="dcterms:W3CDTF">2026-09-23T15:15:03Z</dcterms:modified>
</cp:coreProperties>
</file>