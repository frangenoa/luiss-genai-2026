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17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812280" y="0"/>
            <a:ext cx="5376672" cy="685800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7269480" y="548640"/>
            <a:ext cx="4462272" cy="2926080"/>
          </a:xfrm>
          <a:prstGeom prst="rect">
            <a:avLst/>
          </a:prstGeom>
          <a:solidFill>
            <a:srgbClr val="141F33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543800" y="548640"/>
            <a:ext cx="39136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anche il vostro visual di posizionamento può aprire la presentazione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7498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8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[n]  ·  TASK FORCE EXPORT  ·  [MERCATO]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[Mercato].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658368" y="2432304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2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[Una riga che inquadri la decisione.</a:t>
            </a:r>
            <a:endParaRPr lang="en-US" sz="22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2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Dite l'idea, non il tema.]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58368" y="3621024"/>
            <a:ext cx="2286000" cy="274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58368" y="387705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Raccomandiamo di entrare in [mercato] con il [vino] attraverso [canale], finanziato da [vino] in [canale].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5138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[00.000]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" y="5614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BOTTIGLIE ANNO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32888" y="5138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[+00%]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32888" y="5614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ANNO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07408" y="5138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[00.000]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07408" y="5614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 PAREGGIO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61630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LA RACCOMANDAZIONE: tutta la risposta, subito. Mercato, vino, canale, tre numeri.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piano più ovvio, e perché lo abbiamo scartato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A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[Indicate l'opzione allettante in una riga, poi lasciate che siano i numeri a bocciarla.]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34015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401568" cy="73152"/>
          </a:xfrm>
          <a:prstGeom prst="rect">
            <a:avLst/>
          </a:prstGeom>
          <a:solidFill>
            <a:srgbClr val="A8323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96112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A · solo [vino]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322576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DI CONTRIBUZIONE / BOTTIGLIA  €[0,00]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 PAREGGIO  [00.000] bott.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ALL'OBIETTIVO DI 25.000  [±€00.000]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4015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401568" cy="7315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35424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B · solo [vino]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35424" y="2322576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DI CONTRIBUZIONE / BOTTIGLIA  €[0,00]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 PAREGGIO  [00.000] bott.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ALL'OBIETTIVO DI 25.000  [±€00.000]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36992" y="1737360"/>
            <a:ext cx="34015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7936992" y="1737360"/>
            <a:ext cx="3401568" cy="73152"/>
          </a:xfrm>
          <a:prstGeom prst="rect">
            <a:avLst/>
          </a:prstGeom>
          <a:solidFill>
            <a:srgbClr val="8A97A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8174736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C · solo [vino]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74736" y="2322576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DI CONTRIBUZIONE / BOTTIGLIA  €[0,00]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 PAREGGIO  [00.000] bott.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VINCOLO  [offerta? domanda?]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718304"/>
            <a:ext cx="10881360" cy="73152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932688" y="471830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[Quindi la vera domanda in [mercato] non è X. È Y.]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" y="5888736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96112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DEVE FARE QUESTA SLIDE  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Guadagnare credibilità. Mostrare che avete testato la risposta facile e potete provare che non funziona.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PREZZI E MARGINI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paga [mercato] per una bottiglia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[Dazio all'importazione: 00% · accisa: €0,00 per bottiglia · imposta al consumo: 00% · da Data Pack 4.3]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6309360" cy="384048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86384" y="1700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7007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59936" y="17007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Riserva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93792" y="17007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Sel.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084832"/>
            <a:ext cx="6309360" cy="429768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86384" y="208483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cantina (noi)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08483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59936" y="208483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3792" y="208483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2514600"/>
            <a:ext cx="630936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786384" y="251460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trasporto e assicurazione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51460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59936" y="251460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3792" y="251460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2944368"/>
            <a:ext cx="6309360" cy="429768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786384" y="2944368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dazio + accisa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294436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59936" y="294436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3792" y="294436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3374136"/>
            <a:ext cx="630936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86384" y="3374136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Importatore +30%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374136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59936" y="3374136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3374136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" y="3803904"/>
            <a:ext cx="6309360" cy="429768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786384" y="3803904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Distributore +25%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3803904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59936" y="3803904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93792" y="3803904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" y="4233672"/>
            <a:ext cx="630936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786384" y="423367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+40%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23367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59936" y="423367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93792" y="423367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8368" y="4663440"/>
            <a:ext cx="6309360" cy="429768"/>
          </a:xfrm>
          <a:prstGeom prst="rect">
            <a:avLst/>
          </a:prstGeom>
          <a:solidFill>
            <a:srgbClr val="FFF8E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786384" y="466344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imposta al consumo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26080" y="466344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59936" y="466344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93792" y="466344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" y="5093208"/>
            <a:ext cx="6309360" cy="429768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786384" y="509320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A SCAFFALE, VALUTA LOCALE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926080" y="509320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[000]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059936" y="509320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[000]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93792" y="509320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[000]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424928" y="1700784"/>
            <a:ext cx="4114800" cy="3822192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7699248" y="197510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[IL NUMERO]</a:t>
            </a:r>
            <a:endParaRPr lang="en-US" sz="3800" dirty="0"/>
          </a:p>
        </p:txBody>
      </p:sp>
      <p:sp>
        <p:nvSpPr>
          <p:cNvPr id="53" name="Text 51"/>
          <p:cNvSpPr/>
          <p:nvPr/>
        </p:nvSpPr>
        <p:spPr>
          <a:xfrm>
            <a:off x="7699248" y="2871216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[Quale singolo prezzo in questa scala prezzi ha deciso la vostra strategia, e perché conta in questo mercato?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numero. Un motivo. Nient'altro in questo riquadro.]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58368" y="5888736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896112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DEVE FARE QUESTA SLIDE  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Dimostrare che l'economia è costruita, non dichiarata. Ogni riga rimanda a Data Pack 4.1–4.5.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DELL'ANNO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[Volume] bottiglie, [n] vini, [n] canali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35808" y="1572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98848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47888" y="1572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/ bott.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19488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di contribuzione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938528"/>
            <a:ext cx="10881360" cy="137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[Vino]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2084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[00.000]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[canale]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47888" y="2084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19488" y="2084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€[00.000]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[Vino]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35808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[0.000]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98848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[canale]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19488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€[00.000]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[Vino]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35808" y="32186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[0.000]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98848" y="3218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[canale, con limite]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7888" y="3218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19488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€[00.000]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" y="3730752"/>
            <a:ext cx="10881360" cy="5486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04672" y="3785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35808" y="37856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[25.000]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98848" y="3785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47888" y="37856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€[0,00] medio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19488" y="3785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€[000.000]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4754880"/>
            <a:ext cx="2560320" cy="10058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859536" y="4882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ANNO 1 (FRANCO CANTINA)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9536" y="5138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€[000.000]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401568" y="4754880"/>
            <a:ext cx="2560320" cy="10058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3602736" y="4882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DI INGRESSO NEL MERCATO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02736" y="5138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€120.000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144768" y="4754880"/>
            <a:ext cx="2560320" cy="10058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6345936" y="4882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NETTO ANNO 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45936" y="5138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[+€00.000]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887968" y="4754880"/>
            <a:ext cx="2560320" cy="10058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9089136" y="4882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ANNO 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89136" y="5138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[+00%]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8368" y="59801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[Perché ogni vino è nel piano, soprattutto quello che diluisce la vostra media. Una riga ciascuno.]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pessimistico, base, ottimistico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[Nominate le due variabili che avete davvero testato, e quella che avete deliberatamente escluso.]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34015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401568" cy="73152"/>
          </a:xfrm>
          <a:prstGeom prst="rect">
            <a:avLst/>
          </a:prstGeom>
          <a:solidFill>
            <a:srgbClr val="A8323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96112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PESSIMISTICO  ·  [cosa va storto]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322576"/>
            <a:ext cx="29443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[00.000]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DI CONTRIBUZIONE  €[00.000]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NETTO  [-€00.000]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 [-00%]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4015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401568" cy="7315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35424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[il piano funziona]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35424" y="2322576"/>
            <a:ext cx="29443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[25.000]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DI CONTRIBUZIONE  €[000.000]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NETTO  [+€00.000]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 [+00%]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36992" y="1737360"/>
            <a:ext cx="34015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7936992" y="1737360"/>
            <a:ext cx="3401568" cy="73152"/>
          </a:xfrm>
          <a:prstGeom prst="rect">
            <a:avLst/>
          </a:prstGeom>
          <a:solidFill>
            <a:srgbClr val="4C7A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8174736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OTTIMISTICO  ·  [cosa deve andare bene]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74736" y="2322576"/>
            <a:ext cx="29443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[00.000]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DI CONTRIBUZIONE  €[000.000]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NETTO  [+€00.000]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 [+00%]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956048"/>
            <a:ext cx="534009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96112" y="495604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A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SI ROMPE NELLO SCENARIO PESSIMISTICO
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 singola dipendenza. Ditela ad alta voce.]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4956048"/>
            <a:ext cx="532180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455664" y="495604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LIMITA LO SCENARIO OTTIMISTICO
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[Limite massimo di disponibilità o limite di domanda? Non sono lo stesso argomento.]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5888736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896112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DEVE FARE QUESTA SLIDE  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Mostrare che il piano è già stato messo alla prova prima che lo faccia Elena.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DI GESTIONE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Elena saprà che sta funzionando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[Minimo 3 indicatori finanziari e 3 non finanziari. Ciascuno richiede un obiettivo, un ritmo e un'azione.]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10881360" cy="384048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04672" y="17007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53312" y="17007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68112" y="1700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05472" y="17007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77072" y="17007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non raggiunge l'obiettivo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084832"/>
            <a:ext cx="10881360" cy="566928"/>
          </a:xfrm>
          <a:prstGeom prst="rect">
            <a:avLst/>
          </a:prstGeom>
          <a:solidFill>
            <a:srgbClr val="F2EFE6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04672" y="20848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53312" y="20848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[Indicatore finanziario]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68112" y="20848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[≥ €0,00]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05472" y="20848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[Trimestrale]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77072" y="2084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[Azione]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265176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04672" y="2651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53312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[Indicatore finanziario]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68112" y="2651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[≥ €000k]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05472" y="2651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[Mensile]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77072" y="26517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[Azione]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3218688"/>
            <a:ext cx="10881360" cy="566928"/>
          </a:xfrm>
          <a:prstGeom prst="rect">
            <a:avLst/>
          </a:prstGeom>
          <a:solidFill>
            <a:srgbClr val="F2EFE6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804672" y="321868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353312" y="32186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[Indicatore finanziario]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68112" y="3218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[≥ €0,00]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05472" y="3218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[Trimestrale]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77072" y="32186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[Azione]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" y="3785616"/>
            <a:ext cx="10881360" cy="566928"/>
          </a:xfrm>
          <a:prstGeom prst="rect">
            <a:avLst/>
          </a:prstGeom>
          <a:solidFill>
            <a:srgbClr val="FFF8E2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804672" y="37856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53312" y="37856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[Il vostro indicatore di allerta precoce, quello che terreste]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68112" y="37856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[≥ 00%]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05472" y="37856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[Mensile]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77072" y="37856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[Azione]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" y="4352544"/>
            <a:ext cx="10881360" cy="566928"/>
          </a:xfrm>
          <a:prstGeom prst="rect">
            <a:avLst/>
          </a:prstGeom>
          <a:solidFill>
            <a:srgbClr val="F2EFE6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804672" y="43525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353312" y="43525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[Indicatore non finanziario]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68112" y="4352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entro M0]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05472" y="43525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[Mensile]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577072" y="43525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[Azione]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" y="4919472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804672" y="49194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353312" y="49194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[Indicatore non finanziario]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68112" y="4919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entro M0]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205472" y="49194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[Trimestrale]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577072" y="49194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[Azione]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58368" y="5888736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896112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DEVE FARE QUESTA SLIDE  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Rispondere alla terza domanda di Elena: come capisce entro 12 mesi, prima che i dati finanziari lo confermino.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POSIZIONAMENTO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visual che metteremmo davanti a [mercato]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6035040" cy="4114800"/>
          </a:xfrm>
          <a:prstGeom prst="rect">
            <a:avLst/>
          </a:prstGeom>
          <a:solidFill>
            <a:srgbClr val="1B2A4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32688" y="15544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INSERITE QUI LA VOSTRA IMMAGINE GENERATA ]</a:t>
            </a:r>
            <a:endParaRPr lang="en-US" sz="1400" dirty="0"/>
          </a:p>
          <a:p>
            <a:pPr marL="0" indent="0" algn="ctr">
              <a:lnSpc>
                <a:spcPts val="2200"/>
              </a:lnSpc>
              <a:buNone/>
            </a:pPr>
            <a:endParaRPr lang="en-US" sz="14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di etichetta · visual di campagna · confezione regalo · visual chiave per evento di degustazione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554480"/>
            <a:ext cx="4498848" cy="1261872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278624" y="1700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FUNZIONA QUI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78624" y="19933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[Il motivo specifico del mercato. Non "sembra di fascia alta".]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2980944"/>
            <a:ext cx="4498848" cy="1261872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7278624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CAMBIATO PER QUESTO MERCATO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78624" y="341985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[Formato, lingua, confezione, occasione, segnale.]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4407408"/>
            <a:ext cx="4498848" cy="1261872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278624" y="4553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RIFIUTATO DI CAMBIARE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78624" y="4846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[Il posizionamento di fascia alta regge. Nominate ciò che non è negoziabile.]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 vostra immagine generata. Fatela funzionare per questo mercato, e divertitevi a crearla.]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RICHIESTA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 cosa vi chiediamo di approvare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[Una frase a cui Elena possa dire sì o no.]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53400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5340096" cy="73152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96112" y="195681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PASSAGGI DI CONTROLLO DEI 12 MESI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322576"/>
            <a:ext cx="4882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M1–2  [passaggio]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M3–4  [passaggio]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M5–6  [la scadenza rigida, se ne avete una]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M7–9  [passaggio]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M10–12  [revisione dell'Anno 1 rispetto a F1–F3, N1–N3]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2180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21808" cy="7315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55664" y="195681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STIAMO CHIEDENDO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55664" y="2322576"/>
            <a:ext cx="4864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[€120.000 svincolati in base a questi passaggi]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[Volume impegnato da Marco]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[Decisione necessaria entro: data]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[Chi è responsabile di cosa]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224528"/>
            <a:ext cx="10881360" cy="13716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932688" y="44074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L'UNICA COSA CHE POTREBBE FAR FALLIRE TUTTO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471830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[Nominate con onestà il vostro singolo punto di fallimento, e che cosa fareste al riguardo. Elena apprezza questo più della sicurezza.]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" y="58155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Ipotesi che abbiamo formulato: [elencatele qui o in una slide di supporto]  ·  [Qualsiasi altra cosa che volete far sapere al CdA che sapete]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Widescreen</PresentationFormat>
  <Paragraphs>205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Tenuta Corte Aurelia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Indicative Submission Deck — market neutral skeleton</dc:title>
  <dc:subject>Structure only. Contains no answers for any market.</dc:subject>
  <dc:creator>Wine Business Program 2026</dc:creator>
  <cp:lastModifiedBy>Francesco Fava</cp:lastModifiedBy>
  <cp:revision>1</cp:revision>
  <dcterms:created xsi:type="dcterms:W3CDTF">2026-09-22T16:09:42Z</dcterms:created>
  <dcterms:modified xsi:type="dcterms:W3CDTF">2026-09-23T15:15:03Z</dcterms:modified>
</cp:coreProperties>
</file>